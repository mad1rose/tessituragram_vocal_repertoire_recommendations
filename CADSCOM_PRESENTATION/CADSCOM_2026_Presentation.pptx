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seconds]</a:t>
            </a:r>
          </a:p>
          <a:p/>
          <a:p>
            <a:r>
              <a:t>Good morning/afternoon, everyone. My name is Madeline Johnson, and I am currently pursuing a master's in data science here at Minnesota State University, Mankato. My undergraduate background is in vocal performance -- I hold a Bachelor of Music from Illinois Wesleyan University -- so this project sits right at the intersection of my two worlds. This work is co-authored with Flint Million and Rajeev Bukralia, and today I want to show you how we can use data from musical scores to help singers find repertoire that actually fits their voice.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a:t>
            </a:r>
          </a:p>
          <a:p/>
          <a:p>
            <a:r>
              <a:t>As a trained singer, one of the first things I learned is that choosing the wrong piece is not just an inconvenience -- it can lead to real vocal injury. For example, a singer with a naturally lower voice will usually not feel as comfortable spending long periods in a high range as a singer with a naturally higher voice. Research shows that when a piece's demands do not match a singer's capabilities, the risk of strain goes up significantly (Apfelbach, 2022; Phyland et al., 1999). In practice, singers and voice teachers rely on intuition, trial and error, or vocal classification systems that are not consistently defined. That is what motivated this research: using data to make the process of choosing repertoire more objective and safer.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seconds]</a:t>
            </a:r>
          </a:p>
          <a:p/>
          <a:p>
            <a:r>
              <a:t>Today, singers mainly rely on two approaches. The first is filtering by range. Some databases let you filter by the notes in the vocal line -- you set a minimum and maximum pitch. That is useful, but it only tells you the extremes. A piece with one very high note at the climax looks the same as a piece that sits up high the entire time. Range tells you the boundaries, not where the voice actually lives.</a:t>
            </a:r>
          </a:p>
          <a:p/>
          <a:p>
            <a:r>
              <a:t>The second approach is Fach -- the system opera uses to categorize voices by range, weight, and color. Lyric soprano, dramatic mezzo, and so on. But Fach labels are not consistently defined across regions or pedagogical traditions (Schloneger et al., 2024), and many voices fall between categories -- which makes it hard to assign a single label. Fach gives you a broad category, not a profile tailored to a specific singer's unique voice. Neither approach captures where the voice actually spends its time -- and that distinction matters.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[~65 seconds]</a:t>
            </a:r>
          </a:p>
          <a:p/>
          <a:p>
            <a:r>
              <a:t>There is a concept that does capture where the voice spends its time: tessitura. Range tells you the highest and lowest notes, but tessitura tells you where the voice actually lives -- the pitches where it spends most of its time. A piece might touch its highest note once at the climax, but if it sits in the middle of the range for most of its duration, that is where the real demand is. What matters most is not the extremes -- it is where you spend the bulk of your time.</a:t>
            </a:r>
          </a:p>
          <a:p/>
          <a:p>
            <a:r>
              <a:t>A researcher named Stefan Thurmer formalized a way to represent tessitura visually. In 1988 he introduced the tessituragram -- a histogram of singing time per pitch. Titze, in 2008, refined this with duration weighting, meaning longer notes count more because sustaining a pitch is more demanding than a passing tone. The result is a fingerprint of where the voice spends its time in that piece. This is exactly what range and Fach miss -- the internal distribution of vocal demand. That raises a natural follow-up: whether any existing tools already use tessituragrams this way.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seconds]</a:t>
            </a:r>
          </a:p>
          <a:p/>
          <a:p>
            <a:r>
              <a:t>There are tools that work with tessituragrams, but they are purely analytic. Tessa, developed by Apfelbach in 2022, extracts a tessituragram from a digital score and produces summary statistics. The Kassia Database -- a wonderful resource for art song by women composers -- displays a human-assessed tessitura for each entry. Both of these help you evaluate a piece after you have already found it. But neither one lets you use a tessituragram as a query -- to search for new pieces whose pitch distribution is likely to fit.</a:t>
            </a:r>
          </a:p>
          <a:p/>
          <a:p>
            <a:r>
              <a:t>The scale of the problem makes manual discovery impractical. The LiederNet Archive alone catalogs over 217,000 art-song settings. No voice teacher, no matter how experienced, can know all of that literature. Tessituragrams carry detailed information about a song's vocal demand -- but to our knowledge, no existing system uses them on the query side to recommend repertoire. That is the gap we wanted to explore.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seconds]</a:t>
            </a:r>
          </a:p>
          <a:p/>
          <a:p>
            <a:r>
              <a:t>Let me walk you through the pipeline. First, a quick note on the data. We parse digital sheet music -- MusicXML files -- using a Python toolkit called music21, and for each vocal line we build a tessituragram: every pitch maps to its total duration in quarter-note beats. That is the input to the system.</a:t>
            </a:r>
          </a:p>
          <a:p/>
          <a:p>
            <a:r>
              <a:t>The pipeline has five steps. The singer provides three inputs: their comfortable vocal range, favorite pitches, and pitches to avoid. We filter out any song whose written range goes beyond what the singer specified. Then we construct an ideal pitch profile from those preferences. Every pitch in the singer's range starts with a small base weight, favorite pitches get a large boost, and avoided pitches drop to zero. The result is a target fingerprint of what the perfect song would look like for that singer. We score every remaining song by how closely its tessituragram matches that ideal, minus a penalty for time on avoided pitches. Finally, we return a ranked list from best match to worst.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 seconds]</a:t>
            </a:r>
          </a:p>
          <a:p/>
          <a:p>
            <a:r>
              <a:t>Here is how the scoring works. First, recall how the ideal profile is built. We create a list of numbers -- one per pitch in the singer's range. Every pitch starts with a small base weight so it is not ignored entirely. Favorite pitches get a large boost on top of that, and avoided pitches are dropped to zero. The result is a profile that peaks at the singer's preferred pitches and has nothing where they want to avoid.</a:t>
            </a:r>
          </a:p>
          <a:p/>
          <a:p>
            <a:r>
              <a:t>Each song has its own list built the same way -- one number per pitch -- but from the actual score, showing how much singing time falls on each pitch. Cosine similarity then compares the pattern of these two lists. If both concentrate time on the same pitches in the same proportions, the score is high -- close to 1.0. It focuses on shape rather than total duration, so a short song and a long song that distribute time across pitches the same way score equally well. It is a standard tool for this kind of comparison in information retrieval, which is why we chose it.</a:t>
            </a:r>
          </a:p>
          <a:p/>
          <a:p>
            <a:r>
              <a:t>The avoid penalty is the proportion of the song's total singing duration that falls on notes the singer wants to avoid. Alpha controls the trade-off between rewarding good-fit pitches and penalizing avoided ones -- at 0.5, we split the weight evenly. The scoring function is straightforward in structure. To find out whether it actually produces good rankings, we ran two experiments on real musical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seconds]</a:t>
            </a:r>
          </a:p>
          <a:p/>
          <a:p>
            <a:r>
              <a:t>We used the OpenScore Lieder Corpus -- a freely available, openly licensed collection of art songs. Conveniently, all of the composers have been dead long enough that copyright is not a concern. We ran two experiments. The first used a compact library of 101 vocal lines, one per composition. The second used a much larger expanded library: 1,655 vocal lines drawn from 1,419 compositions -- about 16 times larger. Some compositions have multiple voice parts, like duets, so each vocal line is treated as its own item.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seconds]</a:t>
            </a:r>
          </a:p>
          <a:p/>
          <a:p>
            <a:r>
              <a:t>We did not have human judges rating songs for us -- that is future work. Instead, we used a rigorous method called synthetic self-retrieval. Here is how it works. We pick a vocal line from the library and build a singer profile directly from that line's own tessituragram: the range becomes the singer's range, the four pitches with the most singing time become the favorites, and the two pitches with the least become the avoids. Then we ask the system to rank all the remaining candidates and see where the original line ends up. If the system is working, it should rank that line very highly -- ideally first. We compared three models: the full model with the avoid penalty, cosine-only without the penalty, and a null baseline that just filters by range and then ranks randomly. Here is what we found.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seconds]</a:t>
            </a:r>
          </a:p>
          <a:p/>
          <a:p>
            <a:r>
              <a:t>This figure shows the self-retrieval results. The metric on the left of each panel is Hit Rate at 1 -- how often the target song is ranked first -- and Mean Reciprocal Rank on the right, which captures how high it ranks on average. In Experiment 1, the compact 101-line library, the full model puts the right song first 76 percent of the time. Random guessing after the same range filter gets about 6 percent. In Experiment 2 with 1,655 lines, the full model still finds the right song first 55 percent of the time -- versus just 2 percent for random. And if we look at the top 5 instead of just the top 1, the system finds the target song 86 percent of the time -- nearly 9 out of 10. These two experiments use different protocols and different candidate pools, so the drop from 76 to 55 percent is not purely a library-size effect. The key takeaway is clear: the system massively outperforms random ordering in both cases.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a:t>
            </a:r>
          </a:p>
          <a:p/>
          <a:p>
            <a:r>
              <a:t>The next thing we wanted to know was whether the system is stable -- whether a small change to preferences causes the rankings to shift dramatically. We tested this with 580 one-note perturbations across 20 baseline profiles in the expanded library. We measured stability using Kendall's tau, a statistic that compares two ranked lists. A tau of 1.0 means identical rankings; 0.0 means completely unrelated. Anything above 0.7 is considered strong agreement. Our full model achieved a mean tau of 0.84. The cosine-only model was 0.87, with overlapping confidence intervals. The random baseline was essentially zero, as expected. When a singer tweaks their preferences slightly, the recommendations stay largely the same. The system is stable and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a:t>
            </a:r>
          </a:p>
          <a:p/>
          <a:p>
            <a:r>
              <a:t>We also tested how sensitive the results are to the choice of alpha -- the parameter that controls how heavily we penalize avoided notes. We swept alpha from 0 to 1 in both experiments. As you can see, self-retrieval performance -- Hit Rate at 1 and MRR -- is largely flat across the entire range. The system is not brittle to this choice. Stability does decrease slightly as alpha increases, which makes sense: a stronger avoid penalty creates more sensitivity to changes in avoid preferences. But even at alpha equals 1, tau stays above 0.82 -- well above the strong agreement threshold. We report alpha equals 0.5 as a balanced default: it gives singers meaningful control over their avoid preferences without making the rankings jittery.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a:t>
            </a:r>
          </a:p>
          <a:p/>
          <a:p>
            <a:r>
              <a:t>As an engineering sanity check, we verified that the formula is implemented exactly as designed. The identity residual -- the difference between the computed score and what the formula predicts -- is exactly zero. An OLS regression recovers the exact coefficients: cosine weight equals 1.0, avoid weight equals negative 0.5, R-squared equals 1.0. All correlations go in the expected directions: higher cosine similarity predicts a higher final score, and higher avoid penalty predicts a lower score. No hidden bugs, no rounding surprises. The math checks out.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seconds]</a:t>
            </a:r>
          </a:p>
          <a:p/>
          <a:p>
            <a:r>
              <a:t>Let me step back and talk about what this means in practice. This is a proof-of-concept showing that data science can bring objectivity to a domain where decisions are traditionally subjective -- and where bad decisions have real health consequences. Think about the practical impact for a voice teacher. Right now, they recommend pieces from their own training and experience. But a query based on specific pitches -- 'find me pieces that live on these notes and avoid those' -- is far more granular than Fach. It could surface a piece the teacher has never encountered that turns out to be a perfect fit for their student's unique voice. For those of you in CS and data science, this also demonstrates that familiar tools -- cosine similarity, content-based filtering, offline evaluation -- can work in a completely new domain, and in a cold-start setting with no collaborative signal. I think there is a broader takeaway here for anyone working with content-based recommendation: these familiar techniques can open up entirely new domains, and I would welcome a conversation about where else they might apply.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a:t>
            </a:r>
          </a:p>
          <a:p/>
          <a:p>
            <a:r>
              <a:t>I want to be upfront about limitations, because honesty strengthens research. First, these are synthetic profiles, not real singer preferences -- we have not done a human study yet. Second, we only tested on one corpus of German and French art song; opera, musical theatre, and popular song are untested. Third, we only model pitch and duration -- we do not account for dynamics, tempo, or text setting. For future work, we want to evaluate with real singers and their actual preferences, expand to more diverse repertoire, add richer musical features, and ultimately build an interactive tool that singers and voice teachers can use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seconds]</a:t>
            </a:r>
          </a:p>
          <a:p/>
          <a:p>
            <a:r>
              <a:t>To wrap up: duration-weighted tessituragrams can rank vocal repertoire by fit -- and this is just the beginning. Next time a singer asks 'What should I sing?', data might have an answer. Thank you very much for your time. I would be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B"/>
        </a:solidFill>
        <a:effectLst/>
      </p:bgPr>
    </p:bg>
    <p:spTree>
      <p:nvGrpSpPr>
        <p:cNvPr id="1" name=""/>
        <p:cNvGrpSpPr/>
        <p:nvPr/>
      </p:nvGrpSpPr>
      <p:grpSpPr/>
      <p:sp>
        <p:nvSpPr>
          <p:cNvPr id="2" name="Rectangle 1"/>
          <p:cNvSpPr/>
          <p:nvPr/>
        </p:nvSpPr>
        <p:spPr>
          <a:xfrm>
            <a:off x="1828800" y="1645920"/>
            <a:ext cx="8534095"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800" y="5120640"/>
            <a:ext cx="8534095"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920240"/>
            <a:ext cx="10362895" cy="1828800"/>
          </a:xfrm>
          <a:prstGeom prst="rect">
            <a:avLst/>
          </a:prstGeom>
          <a:noFill/>
        </p:spPr>
        <p:txBody>
          <a:bodyPr wrap="square">
            <a:spAutoFit/>
          </a:bodyPr>
          <a:lstStyle/>
          <a:p>
            <a:pPr algn="ctr"/>
            <a:r>
              <a:rPr sz="3400" b="1" i="0">
                <a:solidFill>
                  <a:srgbClr val="FFFFFF"/>
                </a:solidFill>
                <a:latin typeface="Calibri"/>
              </a:rPr>
              <a:t>Content-Based Vocal Repertoire Ranking Framework
Using Duration-Weighted Pitch Distributions</a:t>
            </a:r>
          </a:p>
        </p:txBody>
      </p:sp>
      <p:sp>
        <p:nvSpPr>
          <p:cNvPr id="5" name="TextBox 4"/>
          <p:cNvSpPr txBox="1"/>
          <p:nvPr/>
        </p:nvSpPr>
        <p:spPr>
          <a:xfrm>
            <a:off x="914400" y="4023360"/>
            <a:ext cx="10362895" cy="914400"/>
          </a:xfrm>
          <a:prstGeom prst="rect">
            <a:avLst/>
          </a:prstGeom>
          <a:noFill/>
        </p:spPr>
        <p:txBody>
          <a:bodyPr wrap="none">
            <a:spAutoFit/>
          </a:bodyPr>
          <a:lstStyle/>
          <a:p>
            <a:pPr algn="ctr"/>
            <a:r>
              <a:rPr sz="2400" b="0" i="0">
                <a:solidFill>
                  <a:srgbClr val="F4F6F8"/>
                </a:solidFill>
                <a:latin typeface="Calibri"/>
              </a:rPr>
              <a:t>Madeline Johnson, Flint Million, Rajeev Bukralia</a:t>
            </a:r>
          </a:p>
        </p:txBody>
      </p:sp>
      <p:sp>
        <p:nvSpPr>
          <p:cNvPr id="6" name="TextBox 5"/>
          <p:cNvSpPr txBox="1"/>
          <p:nvPr/>
        </p:nvSpPr>
        <p:spPr>
          <a:xfrm>
            <a:off x="914400" y="4617720"/>
            <a:ext cx="10362895" cy="457200"/>
          </a:xfrm>
          <a:prstGeom prst="rect">
            <a:avLst/>
          </a:prstGeom>
          <a:noFill/>
        </p:spPr>
        <p:txBody>
          <a:bodyPr wrap="none">
            <a:spAutoFit/>
          </a:bodyPr>
          <a:lstStyle/>
          <a:p>
            <a:pPr algn="ctr"/>
            <a:r>
              <a:rPr sz="2000" b="0" i="1">
                <a:solidFill>
                  <a:srgbClr val="F4F6F8"/>
                </a:solidFill>
                <a:latin typeface="Calibri"/>
              </a:rPr>
              <a:t>Minnesota State University, Mankato</a:t>
            </a:r>
          </a:p>
        </p:txBody>
      </p:sp>
      <p:sp>
        <p:nvSpPr>
          <p:cNvPr id="7" name="TextBox 6"/>
          <p:cNvSpPr txBox="1"/>
          <p:nvPr/>
        </p:nvSpPr>
        <p:spPr>
          <a:xfrm>
            <a:off x="914400" y="5394960"/>
            <a:ext cx="10362895" cy="457200"/>
          </a:xfrm>
          <a:prstGeom prst="rect">
            <a:avLst/>
          </a:prstGeom>
          <a:noFill/>
        </p:spPr>
        <p:txBody>
          <a:bodyPr wrap="none">
            <a:spAutoFit/>
          </a:bodyPr>
          <a:lstStyle/>
          <a:p>
            <a:pPr algn="ctr"/>
            <a:r>
              <a:rPr sz="2000" b="1" i="0">
                <a:solidFill>
                  <a:srgbClr val="FF5D7A"/>
                </a:solidFill>
                <a:latin typeface="Calibri"/>
              </a:rPr>
              <a:t>CADSCOM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1645920"/>
            <a:ext cx="9966960" cy="3200400"/>
          </a:xfrm>
          <a:prstGeom prst="rect">
            <a:avLst/>
          </a:prstGeom>
          <a:noFill/>
        </p:spPr>
        <p:txBody>
          <a:bodyPr wrap="square">
            <a:spAutoFit/>
          </a:bodyPr>
          <a:lstStyle/>
          <a:p>
            <a:pPr algn="ctr"/>
            <a:r>
              <a:rPr sz="3400" b="0" i="1">
                <a:solidFill>
                  <a:srgbClr val="0B1F3B"/>
                </a:solidFill>
                <a:latin typeface="Calibri"/>
              </a:rPr>
              <a:t>“Have you ever wondered how a singer decides
which songs are safe to sing?”</a:t>
            </a:r>
          </a:p>
        </p:txBody>
      </p:sp>
      <p:sp>
        <p:nvSpPr>
          <p:cNvPr id="3" name="TextBox 2"/>
          <p:cNvSpPr txBox="1"/>
          <p:nvPr/>
        </p:nvSpPr>
        <p:spPr>
          <a:xfrm>
            <a:off x="1371600" y="4114800"/>
            <a:ext cx="9418320" cy="1828800"/>
          </a:xfrm>
          <a:prstGeom prst="rect">
            <a:avLst/>
          </a:prstGeom>
          <a:noFill/>
        </p:spPr>
        <p:txBody>
          <a:bodyPr wrap="square">
            <a:spAutoFit/>
          </a:bodyPr>
          <a:lstStyle/>
          <a:p>
            <a:pPr algn="ctr">
              <a:spcAft>
                <a:spcPts val="1200"/>
              </a:spcAft>
            </a:pPr>
            <a:r>
              <a:rPr sz="2400" b="0" i="0">
                <a:solidFill>
                  <a:srgbClr val="1A1A1A"/>
                </a:solidFill>
                <a:latin typeface="Calibri"/>
              </a:rPr>
              <a:t>The wrong piece is not just an inconvenience.</a:t>
            </a:r>
          </a:p>
          <a:p>
            <a:pPr algn="ctr">
              <a:spcAft>
                <a:spcPts val="1200"/>
              </a:spcAft>
            </a:pPr>
            <a:r>
              <a:rPr sz="2600" b="1" i="0">
                <a:solidFill>
                  <a:srgbClr val="0B1F3B"/>
                </a:solidFill>
                <a:latin typeface="Calibri"/>
              </a:rPr>
              <a:t>It is an injury risk.</a:t>
            </a:r>
          </a:p>
          <a:p>
            <a:pPr algn="ctr">
              <a:spcAft>
                <a:spcPts val="1200"/>
              </a:spcAft>
            </a:pPr>
            <a:r>
              <a:rPr sz="2600" b="0" i="1">
                <a:solidFill>
                  <a:srgbClr val="FF5D7A"/>
                </a:solidFill>
                <a:latin typeface="Calibri"/>
              </a:rPr>
              <a:t>What if data could help?</a:t>
            </a:r>
          </a:p>
        </p:txBody>
      </p:sp>
      <p:sp>
        <p:nvSpPr>
          <p:cNvPr id="4" name="TextBox 3"/>
          <p:cNvSpPr txBox="1"/>
          <p:nvPr/>
        </p:nvSpPr>
        <p:spPr>
          <a:xfrm>
            <a:off x="457200" y="6309360"/>
            <a:ext cx="11277295" cy="365760"/>
          </a:xfrm>
          <a:prstGeom prst="rect">
            <a:avLst/>
          </a:prstGeom>
          <a:noFill/>
        </p:spPr>
        <p:txBody>
          <a:bodyPr wrap="none">
            <a:spAutoFit/>
          </a:bodyPr>
          <a:lstStyle/>
          <a:p>
            <a:pPr algn="r"/>
            <a:r>
              <a:rPr sz="1200" b="0" i="1">
                <a:solidFill>
                  <a:srgbClr val="2E4A7D"/>
                </a:solidFill>
                <a:latin typeface="Calibri"/>
              </a:rPr>
              <a:t>Apfelbach, 2022; Phyland et al., 1999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The Current Approach</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371600"/>
            <a:ext cx="5120640" cy="4114800"/>
          </a:xfrm>
          <a:prstGeom prst="roundRect">
            <a:avLst/>
          </a:prstGeom>
          <a:solidFill>
            <a:srgbClr val="F4F6F8"/>
          </a:solidFill>
          <a:ln w="15240">
            <a:solidFill>
              <a:srgbClr val="2E4A7D"/>
            </a:solidFill>
          </a:ln>
        </p:spPr>
        <p:style>
          <a:lnRef idx="1">
            <a:schemeClr val="accent1"/>
          </a:lnRef>
          <a:fillRef idx="3">
            <a:schemeClr val="accent1"/>
          </a:fillRef>
          <a:effectRef idx="2">
            <a:schemeClr val="accent1"/>
          </a:effectRef>
          <a:fontRef idx="minor">
            <a:schemeClr val="lt1"/>
          </a:fontRef>
        </p:style>
        <p:txBody>
          <a:bodyPr rtlCol="0" anchor="ctr" wrap="square" lIns="228600" rIns="182880" tIns="164592"/>
          <a:lstStyle/>
          <a:p>
            <a:pPr algn="l"/>
            <a:r>
              <a:rPr sz="2000" b="1" i="0">
                <a:solidFill>
                  <a:srgbClr val="2E4A7D"/>
                </a:solidFill>
                <a:latin typeface="Calibri"/>
              </a:rPr>
              <a:t>Filtering by Range</a:t>
            </a:r>
          </a:p>
          <a:p>
            <a:pPr>
              <a:spcBef>
                <a:spcPts val="800"/>
              </a:spcBef>
            </a:pPr>
            <a:r>
              <a:rPr sz="1700" b="0" i="0">
                <a:solidFill>
                  <a:srgbClr val="1A1A1A"/>
                </a:solidFill>
                <a:latin typeface="Calibri"/>
              </a:rPr>
              <a:t>  •  Filter songs by minimum and
maximum pitch in the vocal line.</a:t>
            </a:r>
          </a:p>
          <a:p>
            <a:pPr>
              <a:spcBef>
                <a:spcPts val="800"/>
              </a:spcBef>
            </a:pPr>
            <a:r>
              <a:rPr sz="1700" b="0" i="0">
                <a:solidFill>
                  <a:srgbClr val="1A1A1A"/>
                </a:solidFill>
                <a:latin typeface="Calibri"/>
              </a:rPr>
              <a:t>  •  Shows the extremes — not how
much time the voice spends there.</a:t>
            </a:r>
          </a:p>
          <a:p>
            <a:pPr>
              <a:spcBef>
                <a:spcPts val="800"/>
              </a:spcBef>
            </a:pPr>
            <a:r>
              <a:rPr sz="1700" b="0" i="0">
                <a:solidFill>
                  <a:srgbClr val="1A1A1A"/>
                </a:solidFill>
                <a:latin typeface="Calibri"/>
              </a:rPr>
              <a:t>  •  One high climax note looks the
same as sitting high the whole time.</a:t>
            </a:r>
          </a:p>
        </p:txBody>
      </p:sp>
      <p:sp>
        <p:nvSpPr>
          <p:cNvPr id="6" name="Rounded Rectangle 5"/>
          <p:cNvSpPr/>
          <p:nvPr/>
        </p:nvSpPr>
        <p:spPr>
          <a:xfrm>
            <a:off x="6355080" y="1371600"/>
            <a:ext cx="5120640" cy="411480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rIns="182880" tIns="164592"/>
          <a:lstStyle/>
          <a:p>
            <a:pPr algn="l"/>
            <a:r>
              <a:rPr sz="2000" b="1" i="0">
                <a:solidFill>
                  <a:srgbClr val="FF5D7A"/>
                </a:solidFill>
                <a:latin typeface="Calibri"/>
              </a:rPr>
              <a:t>Filtering by Fach</a:t>
            </a:r>
          </a:p>
          <a:p>
            <a:pPr>
              <a:spcBef>
                <a:spcPts val="800"/>
              </a:spcBef>
            </a:pPr>
            <a:r>
              <a:rPr sz="1700" b="0" i="0">
                <a:solidFill>
                  <a:srgbClr val="FFFFFF"/>
                </a:solidFill>
                <a:latin typeface="Calibri"/>
              </a:rPr>
              <a:t>  •  Categorizes voices by range, weight,
and color (e.g. lyric soprano).</a:t>
            </a:r>
          </a:p>
          <a:p>
            <a:pPr>
              <a:spcBef>
                <a:spcPts val="800"/>
              </a:spcBef>
            </a:pPr>
            <a:r>
              <a:rPr sz="1700" b="0" i="0">
                <a:solidFill>
                  <a:srgbClr val="FFFFFF"/>
                </a:solidFill>
                <a:latin typeface="Calibri"/>
              </a:rPr>
              <a:t>  •  Labels inconsistently defined across
regions (Schloneger et al., 2024).</a:t>
            </a:r>
          </a:p>
          <a:p>
            <a:pPr>
              <a:spcBef>
                <a:spcPts val="800"/>
              </a:spcBef>
            </a:pPr>
            <a:r>
              <a:rPr sz="1700" b="0" i="0">
                <a:solidFill>
                  <a:srgbClr val="FFFFFF"/>
                </a:solidFill>
                <a:latin typeface="Calibri"/>
              </a:rPr>
              <a:t>  •  Many voices fall between categories.</a:t>
            </a:r>
          </a:p>
          <a:p>
            <a:pPr>
              <a:spcBef>
                <a:spcPts val="800"/>
              </a:spcBef>
            </a:pPr>
            <a:r>
              <a:rPr sz="1700" b="0" i="0">
                <a:solidFill>
                  <a:srgbClr val="FFFFFF"/>
                </a:solidFill>
                <a:latin typeface="Calibri"/>
              </a:rPr>
              <a:t>  •  Broad categories, not tailored to
an individual singer.</a:t>
            </a:r>
          </a:p>
        </p:txBody>
      </p:sp>
      <p:sp>
        <p:nvSpPr>
          <p:cNvPr id="7" name="TextBox 6"/>
          <p:cNvSpPr txBox="1"/>
          <p:nvPr/>
        </p:nvSpPr>
        <p:spPr>
          <a:xfrm>
            <a:off x="502920" y="5715000"/>
            <a:ext cx="11155680" cy="731520"/>
          </a:xfrm>
          <a:prstGeom prst="rect">
            <a:avLst/>
          </a:prstGeom>
          <a:noFill/>
        </p:spPr>
        <p:txBody>
          <a:bodyPr wrap="none">
            <a:spAutoFit/>
          </a:bodyPr>
          <a:lstStyle/>
          <a:p>
            <a:pPr algn="ctr"/>
            <a:r>
              <a:rPr sz="2200" b="0" i="1">
                <a:solidFill>
                  <a:srgbClr val="0B1F3B"/>
                </a:solidFill>
                <a:latin typeface="Calibri"/>
              </a:rPr>
              <a:t>Neither captures where the voice actually spends its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Tessitura &amp; the Tessituragram</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325880"/>
            <a:ext cx="11155680" cy="1508760"/>
          </a:xfrm>
          <a:prstGeom prst="roundRect">
            <a:avLst/>
          </a:prstGeom>
          <a:solidFill>
            <a:srgbClr val="F4F6F8"/>
          </a:solidFill>
          <a:ln w="15240">
            <a:solidFill>
              <a:srgbClr val="2E4A7D"/>
            </a:solidFill>
          </a:ln>
        </p:spPr>
        <p:style>
          <a:lnRef idx="1">
            <a:schemeClr val="accent1"/>
          </a:lnRef>
          <a:fillRef idx="3">
            <a:schemeClr val="accent1"/>
          </a:fillRef>
          <a:effectRef idx="2">
            <a:schemeClr val="accent1"/>
          </a:effectRef>
          <a:fontRef idx="minor">
            <a:schemeClr val="lt1"/>
          </a:fontRef>
        </p:style>
        <p:txBody>
          <a:bodyPr rtlCol="0" anchor="ctr" wrap="square" lIns="320040" rIns="274320" tIns="164592"/>
          <a:lstStyle/>
          <a:p>
            <a:pPr algn="l"/>
            <a:r>
              <a:rPr sz="2400" b="1" i="0">
                <a:solidFill>
                  <a:srgbClr val="2E4A7D"/>
                </a:solidFill>
                <a:latin typeface="Calibri"/>
              </a:rPr>
              <a:t>Tessitura</a:t>
            </a:r>
          </a:p>
          <a:p>
            <a:pPr>
              <a:spcBef>
                <a:spcPts val="1000"/>
              </a:spcBef>
            </a:pPr>
            <a:r>
              <a:rPr sz="2000" b="0" i="0">
                <a:solidFill>
                  <a:srgbClr val="1A1A1A"/>
                </a:solidFill>
                <a:latin typeface="Calibri"/>
              </a:rPr>
              <a:t>The pitches where the voice spends most of its time — not just the highest and lowest notes.</a:t>
            </a:r>
          </a:p>
        </p:txBody>
      </p:sp>
      <p:sp>
        <p:nvSpPr>
          <p:cNvPr id="6" name="Rounded Rectangle 5"/>
          <p:cNvSpPr/>
          <p:nvPr/>
        </p:nvSpPr>
        <p:spPr>
          <a:xfrm>
            <a:off x="502920" y="3063240"/>
            <a:ext cx="11155680" cy="324612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201168"/>
          <a:lstStyle/>
          <a:p>
            <a:pPr algn="l"/>
            <a:r>
              <a:rPr sz="2400" b="1" i="0">
                <a:solidFill>
                  <a:srgbClr val="FF5D7A"/>
                </a:solidFill>
                <a:latin typeface="Calibri"/>
              </a:rPr>
              <a:t>Tessituragram</a:t>
            </a:r>
          </a:p>
          <a:p>
            <a:pPr>
              <a:spcBef>
                <a:spcPts val="1800"/>
              </a:spcBef>
            </a:pPr>
            <a:r>
              <a:rPr sz="1900" b="0" i="0">
                <a:solidFill>
                  <a:srgbClr val="FFFFFF"/>
                </a:solidFill>
                <a:latin typeface="Calibri"/>
              </a:rPr>
              <a:t>•   Thurmer (1988): histogram of singing time
per pitch — a song's fingerprint.</a:t>
            </a:r>
          </a:p>
          <a:p>
            <a:pPr>
              <a:spcBef>
                <a:spcPts val="1800"/>
              </a:spcBef>
            </a:pPr>
            <a:r>
              <a:rPr sz="1900" b="0" i="0">
                <a:solidFill>
                  <a:srgbClr val="FFFFFF"/>
                </a:solidFill>
                <a:latin typeface="Calibri"/>
              </a:rPr>
              <a:t>•   Duration-weighted: longer notes count more
(Titze, 2008).</a:t>
            </a:r>
          </a:p>
          <a:p>
            <a:pPr>
              <a:spcBef>
                <a:spcPts val="1800"/>
              </a:spcBef>
            </a:pPr>
            <a:r>
              <a:rPr sz="1900" b="0" i="0">
                <a:solidFill>
                  <a:srgbClr val="FFFFFF"/>
                </a:solidFill>
                <a:latin typeface="Calibri"/>
              </a:rPr>
              <a:t>•   Range and Fach don't quantify a song's
internal pitch-duration distribution.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The Gap</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371600"/>
            <a:ext cx="5120640" cy="3291840"/>
          </a:xfrm>
          <a:prstGeom prst="roundRect">
            <a:avLst/>
          </a:prstGeom>
          <a:solidFill>
            <a:srgbClr val="F4F6F8"/>
          </a:solidFill>
          <a:ln w="15240">
            <a:solidFill>
              <a:srgbClr val="2E4A7D"/>
            </a:solidFill>
          </a:ln>
        </p:spPr>
        <p:style>
          <a:lnRef idx="1">
            <a:schemeClr val="accent1"/>
          </a:lnRef>
          <a:fillRef idx="3">
            <a:schemeClr val="accent1"/>
          </a:fillRef>
          <a:effectRef idx="2">
            <a:schemeClr val="accent1"/>
          </a:effectRef>
          <a:fontRef idx="minor">
            <a:schemeClr val="lt1"/>
          </a:fontRef>
        </p:style>
        <p:txBody>
          <a:bodyPr rtlCol="0" anchor="ctr" wrap="square" lIns="228600" rIns="182880" tIns="164592"/>
          <a:lstStyle/>
          <a:p>
            <a:pPr algn="l"/>
            <a:r>
              <a:rPr sz="2000" b="1" i="0">
                <a:solidFill>
                  <a:srgbClr val="2E4A7D"/>
                </a:solidFill>
                <a:latin typeface="Calibri"/>
              </a:rPr>
              <a:t>Existing Tessitura Tools</a:t>
            </a:r>
          </a:p>
          <a:p>
            <a:pPr>
              <a:spcBef>
                <a:spcPts val="800"/>
              </a:spcBef>
            </a:pPr>
            <a:r>
              <a:rPr sz="1700" b="0" i="0">
                <a:solidFill>
                  <a:srgbClr val="1A1A1A"/>
                </a:solidFill>
                <a:latin typeface="Calibri"/>
              </a:rPr>
              <a:t>  •  Tessa (Apfelbach, 2022): extracts
tessituragrams and summary statistics.</a:t>
            </a:r>
          </a:p>
          <a:p>
            <a:pPr>
              <a:spcBef>
                <a:spcPts val="800"/>
              </a:spcBef>
            </a:pPr>
            <a:r>
              <a:rPr sz="1700" b="0" i="0">
                <a:solidFill>
                  <a:srgbClr val="1A1A1A"/>
                </a:solidFill>
                <a:latin typeface="Calibri"/>
              </a:rPr>
              <a:t>  •  Kassia Database: human-assessed
tessitura per art song entry.</a:t>
            </a:r>
          </a:p>
          <a:p>
            <a:pPr>
              <a:spcBef>
                <a:spcPts val="800"/>
              </a:spcBef>
            </a:pPr>
            <a:r>
              <a:rPr sz="1700" b="0" i="0">
                <a:solidFill>
                  <a:srgbClr val="1A1A1A"/>
                </a:solidFill>
                <a:latin typeface="Calibri"/>
              </a:rPr>
              <a:t>  •  Both evaluate a piece after it has
already been selected.</a:t>
            </a:r>
          </a:p>
        </p:txBody>
      </p:sp>
      <p:sp>
        <p:nvSpPr>
          <p:cNvPr id="6" name="Rounded Rectangle 5"/>
          <p:cNvSpPr/>
          <p:nvPr/>
        </p:nvSpPr>
        <p:spPr>
          <a:xfrm>
            <a:off x="6355080" y="1371600"/>
            <a:ext cx="5120640" cy="329184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rIns="182880" tIns="164592"/>
          <a:lstStyle/>
          <a:p>
            <a:pPr algn="l"/>
            <a:r>
              <a:rPr sz="2000" b="1" i="0">
                <a:solidFill>
                  <a:srgbClr val="FF5D7A"/>
                </a:solidFill>
                <a:latin typeface="Calibri"/>
              </a:rPr>
              <a:t>What’s Missing</a:t>
            </a:r>
          </a:p>
          <a:p>
            <a:pPr>
              <a:spcBef>
                <a:spcPts val="800"/>
              </a:spcBef>
            </a:pPr>
            <a:r>
              <a:rPr sz="1700" b="0" i="0">
                <a:solidFill>
                  <a:srgbClr val="FFFFFF"/>
                </a:solidFill>
                <a:latin typeface="Calibri"/>
              </a:rPr>
              <a:t>  •  No tool recommends pieces whose
pitch distribution fits a singer.</a:t>
            </a:r>
          </a:p>
          <a:p>
            <a:pPr>
              <a:spcBef>
                <a:spcPts val="800"/>
              </a:spcBef>
            </a:pPr>
            <a:r>
              <a:rPr sz="1700" b="0" i="0">
                <a:solidFill>
                  <a:srgbClr val="FFFFFF"/>
                </a:solidFill>
                <a:latin typeface="Calibri"/>
              </a:rPr>
              <a:t>  •  No pitch-level query: “Find pieces
on THESE notes, avoid THOSE.”</a:t>
            </a:r>
          </a:p>
          <a:p>
            <a:pPr>
              <a:spcBef>
                <a:spcPts val="800"/>
              </a:spcBef>
            </a:pPr>
            <a:r>
              <a:rPr sz="1700" b="0" i="0">
                <a:solidFill>
                  <a:srgbClr val="FFFFFF"/>
                </a:solidFill>
                <a:latin typeface="Calibri"/>
              </a:rPr>
              <a:t>  •  217,000+ cataloged settings
(LiederNet) — manual search can’t scale.</a:t>
            </a:r>
          </a:p>
        </p:txBody>
      </p:sp>
      <p:sp>
        <p:nvSpPr>
          <p:cNvPr id="7" name="TextBox 6"/>
          <p:cNvSpPr txBox="1"/>
          <p:nvPr/>
        </p:nvSpPr>
        <p:spPr>
          <a:xfrm>
            <a:off x="502920" y="4937760"/>
            <a:ext cx="11155680" cy="1371600"/>
          </a:xfrm>
          <a:prstGeom prst="rect">
            <a:avLst/>
          </a:prstGeom>
          <a:noFill/>
        </p:spPr>
        <p:txBody>
          <a:bodyPr wrap="square">
            <a:spAutoFit/>
          </a:bodyPr>
          <a:lstStyle/>
          <a:p>
            <a:pPr algn="ctr"/>
            <a:r>
              <a:rPr sz="2100" b="0" i="1">
                <a:solidFill>
                  <a:srgbClr val="1A1A1A"/>
                </a:solidFill>
                <a:latin typeface="Calibri"/>
              </a:rPr>
              <a:t>Tessituragrams capture vocal demand —</a:t>
            </a:r>
          </a:p>
          <a:p>
            <a:pPr algn="ctr"/>
            <a:r>
              <a:rPr sz="2100" b="1" i="1">
                <a:solidFill>
                  <a:srgbClr val="0B1F3B"/>
                </a:solidFill>
                <a:latin typeface="Calibri"/>
              </a:rPr>
              <a:t>but no tool uses them to recommend new repertoire.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The Pipeline</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234440"/>
            <a:ext cx="10789920" cy="502920"/>
          </a:xfrm>
          <a:prstGeom prst="roundRect">
            <a:avLst/>
          </a:prstGeom>
          <a:solidFill>
            <a:srgbClr val="F4F6F8"/>
          </a:solidFill>
          <a:ln w="15240">
            <a:solidFill>
              <a:srgbClr val="3FA7A3"/>
            </a:solidFill>
          </a:ln>
        </p:spPr>
        <p:style>
          <a:lnRef idx="1">
            <a:schemeClr val="accent1"/>
          </a:lnRef>
          <a:fillRef idx="3">
            <a:schemeClr val="accent1"/>
          </a:fillRef>
          <a:effectRef idx="2">
            <a:schemeClr val="accent1"/>
          </a:effectRef>
          <a:fontRef idx="minor">
            <a:schemeClr val="lt1"/>
          </a:fontRef>
        </p:style>
        <p:txBody>
          <a:bodyPr rtlCol="0" anchor="ctr" wrap="square" lIns="228600" tIns="73152"/>
          <a:lstStyle/>
          <a:p>
            <a:pPr algn="ctr"/>
            <a:r>
              <a:rPr sz="1700" b="0" i="1">
                <a:solidFill>
                  <a:srgbClr val="1A1A1A"/>
                </a:solidFill>
                <a:latin typeface="Calibri"/>
              </a:rPr>
              <a:t>MusicXML scores parsed with music21: pitch → duration in quarter-note beats.</a:t>
            </a:r>
          </a:p>
        </p:txBody>
      </p:sp>
      <p:sp>
        <p:nvSpPr>
          <p:cNvPr id="6" name="Rounded Rectangle 5"/>
          <p:cNvSpPr/>
          <p:nvPr/>
        </p:nvSpPr>
        <p:spPr>
          <a:xfrm>
            <a:off x="700887" y="1965960"/>
            <a:ext cx="1828800" cy="182880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2000"/>
              </a:spcBef>
            </a:pPr>
            <a:r>
              <a:rPr sz="1800" b="1" i="0">
                <a:solidFill>
                  <a:srgbClr val="FFFFFF"/>
                </a:solidFill>
                <a:latin typeface="Calibri"/>
              </a:rPr>
              <a:t>Singer
Preferences</a:t>
            </a:r>
          </a:p>
        </p:txBody>
      </p:sp>
      <p:sp>
        <p:nvSpPr>
          <p:cNvPr id="7" name="TextBox 6"/>
          <p:cNvSpPr txBox="1"/>
          <p:nvPr/>
        </p:nvSpPr>
        <p:spPr>
          <a:xfrm>
            <a:off x="700887" y="3977639"/>
            <a:ext cx="1828800" cy="1463040"/>
          </a:xfrm>
          <a:prstGeom prst="rect">
            <a:avLst/>
          </a:prstGeom>
          <a:noFill/>
        </p:spPr>
        <p:txBody>
          <a:bodyPr wrap="square">
            <a:spAutoFit/>
          </a:bodyPr>
          <a:lstStyle/>
          <a:p>
            <a:pPr algn="ctr"/>
            <a:r>
              <a:rPr sz="1600" b="0" i="0">
                <a:solidFill>
                  <a:srgbClr val="1A1A1A"/>
                </a:solidFill>
                <a:latin typeface="Calibri"/>
              </a:rPr>
              <a:t>Range, favorites,
and avoids</a:t>
            </a:r>
          </a:p>
        </p:txBody>
      </p:sp>
      <p:sp>
        <p:nvSpPr>
          <p:cNvPr id="8" name="Right Arrow 7"/>
          <p:cNvSpPr/>
          <p:nvPr/>
        </p:nvSpPr>
        <p:spPr>
          <a:xfrm>
            <a:off x="2529687" y="2743200"/>
            <a:ext cx="411480" cy="274320"/>
          </a:xfrm>
          <a:prstGeom prst="rightArrow">
            <a:avLst/>
          </a:prstGeom>
          <a:solidFill>
            <a:srgbClr val="3FA7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41167" y="1965960"/>
            <a:ext cx="1828800" cy="182880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2000"/>
              </a:spcBef>
            </a:pPr>
            <a:r>
              <a:rPr sz="1800" b="1" i="0">
                <a:solidFill>
                  <a:srgbClr val="FFFFFF"/>
                </a:solidFill>
                <a:latin typeface="Calibri"/>
              </a:rPr>
              <a:t>Range
Filter</a:t>
            </a:r>
          </a:p>
        </p:txBody>
      </p:sp>
      <p:sp>
        <p:nvSpPr>
          <p:cNvPr id="10" name="TextBox 9"/>
          <p:cNvSpPr txBox="1"/>
          <p:nvPr/>
        </p:nvSpPr>
        <p:spPr>
          <a:xfrm>
            <a:off x="2941167" y="3977639"/>
            <a:ext cx="1828800" cy="1463040"/>
          </a:xfrm>
          <a:prstGeom prst="rect">
            <a:avLst/>
          </a:prstGeom>
          <a:noFill/>
        </p:spPr>
        <p:txBody>
          <a:bodyPr wrap="square">
            <a:spAutoFit/>
          </a:bodyPr>
          <a:lstStyle/>
          <a:p>
            <a:pPr algn="ctr"/>
            <a:r>
              <a:rPr sz="1600" b="0" i="0">
                <a:solidFill>
                  <a:srgbClr val="1A1A1A"/>
                </a:solidFill>
                <a:latin typeface="Calibri"/>
              </a:rPr>
              <a:t>Drop songs
outside range</a:t>
            </a:r>
          </a:p>
        </p:txBody>
      </p:sp>
      <p:sp>
        <p:nvSpPr>
          <p:cNvPr id="11" name="Right Arrow 10"/>
          <p:cNvSpPr/>
          <p:nvPr/>
        </p:nvSpPr>
        <p:spPr>
          <a:xfrm>
            <a:off x="4769967" y="2743200"/>
            <a:ext cx="411480" cy="274320"/>
          </a:xfrm>
          <a:prstGeom prst="rightArrow">
            <a:avLst/>
          </a:prstGeom>
          <a:solidFill>
            <a:srgbClr val="3FA7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81447" y="1965960"/>
            <a:ext cx="1828800" cy="182880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2000"/>
              </a:spcBef>
            </a:pPr>
            <a:r>
              <a:rPr sz="1800" b="1" i="0">
                <a:solidFill>
                  <a:srgbClr val="FFFFFF"/>
                </a:solidFill>
                <a:latin typeface="Calibri"/>
              </a:rPr>
              <a:t>Ideal Profile
Construction</a:t>
            </a:r>
          </a:p>
        </p:txBody>
      </p:sp>
      <p:sp>
        <p:nvSpPr>
          <p:cNvPr id="13" name="TextBox 12"/>
          <p:cNvSpPr txBox="1"/>
          <p:nvPr/>
        </p:nvSpPr>
        <p:spPr>
          <a:xfrm>
            <a:off x="5181447" y="3977639"/>
            <a:ext cx="1828800" cy="1463040"/>
          </a:xfrm>
          <a:prstGeom prst="rect">
            <a:avLst/>
          </a:prstGeom>
          <a:noFill/>
        </p:spPr>
        <p:txBody>
          <a:bodyPr wrap="square">
            <a:spAutoFit/>
          </a:bodyPr>
          <a:lstStyle/>
          <a:p>
            <a:pPr algn="ctr"/>
            <a:r>
              <a:rPr sz="1600" b="0" i="0">
                <a:solidFill>
                  <a:srgbClr val="1A1A1A"/>
                </a:solidFill>
                <a:latin typeface="Calibri"/>
              </a:rPr>
              <a:t>Target profile
from preferences</a:t>
            </a:r>
          </a:p>
        </p:txBody>
      </p:sp>
      <p:sp>
        <p:nvSpPr>
          <p:cNvPr id="14" name="Right Arrow 13"/>
          <p:cNvSpPr/>
          <p:nvPr/>
        </p:nvSpPr>
        <p:spPr>
          <a:xfrm>
            <a:off x="7010247" y="2743200"/>
            <a:ext cx="411480" cy="274320"/>
          </a:xfrm>
          <a:prstGeom prst="rightArrow">
            <a:avLst/>
          </a:prstGeom>
          <a:solidFill>
            <a:srgbClr val="3FA7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21727" y="1965960"/>
            <a:ext cx="1828800" cy="182880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2000"/>
              </a:spcBef>
            </a:pPr>
            <a:r>
              <a:rPr sz="1800" b="1" i="0">
                <a:solidFill>
                  <a:srgbClr val="FFFFFF"/>
                </a:solidFill>
                <a:latin typeface="Calibri"/>
              </a:rPr>
              <a:t>Cosine
Similarity
Scoring</a:t>
            </a:r>
          </a:p>
        </p:txBody>
      </p:sp>
      <p:sp>
        <p:nvSpPr>
          <p:cNvPr id="16" name="TextBox 15"/>
          <p:cNvSpPr txBox="1"/>
          <p:nvPr/>
        </p:nvSpPr>
        <p:spPr>
          <a:xfrm>
            <a:off x="7421727" y="3977639"/>
            <a:ext cx="1828800" cy="1463040"/>
          </a:xfrm>
          <a:prstGeom prst="rect">
            <a:avLst/>
          </a:prstGeom>
          <a:noFill/>
        </p:spPr>
        <p:txBody>
          <a:bodyPr wrap="square">
            <a:spAutoFit/>
          </a:bodyPr>
          <a:lstStyle/>
          <a:p>
            <a:pPr algn="ctr"/>
            <a:r>
              <a:rPr sz="1600" b="0" i="0">
                <a:solidFill>
                  <a:srgbClr val="1A1A1A"/>
                </a:solidFill>
                <a:latin typeface="Calibri"/>
              </a:rPr>
              <a:t>Similarity minus
avoid penalty</a:t>
            </a:r>
          </a:p>
        </p:txBody>
      </p:sp>
      <p:sp>
        <p:nvSpPr>
          <p:cNvPr id="17" name="Right Arrow 16"/>
          <p:cNvSpPr/>
          <p:nvPr/>
        </p:nvSpPr>
        <p:spPr>
          <a:xfrm>
            <a:off x="9250527" y="2743200"/>
            <a:ext cx="411480" cy="274320"/>
          </a:xfrm>
          <a:prstGeom prst="rightArrow">
            <a:avLst/>
          </a:prstGeom>
          <a:solidFill>
            <a:srgbClr val="3FA7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62007" y="1965960"/>
            <a:ext cx="1828800" cy="182880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2000"/>
              </a:spcBef>
            </a:pPr>
            <a:r>
              <a:rPr sz="1800" b="1" i="0">
                <a:solidFill>
                  <a:srgbClr val="FFFFFF"/>
                </a:solidFill>
                <a:latin typeface="Calibri"/>
              </a:rPr>
              <a:t>Ranked
Song List</a:t>
            </a:r>
          </a:p>
        </p:txBody>
      </p:sp>
      <p:sp>
        <p:nvSpPr>
          <p:cNvPr id="19" name="TextBox 18"/>
          <p:cNvSpPr txBox="1"/>
          <p:nvPr/>
        </p:nvSpPr>
        <p:spPr>
          <a:xfrm>
            <a:off x="9662007" y="3977639"/>
            <a:ext cx="1828800" cy="1463040"/>
          </a:xfrm>
          <a:prstGeom prst="rect">
            <a:avLst/>
          </a:prstGeom>
          <a:noFill/>
        </p:spPr>
        <p:txBody>
          <a:bodyPr wrap="square">
            <a:spAutoFit/>
          </a:bodyPr>
          <a:lstStyle/>
          <a:p>
            <a:pPr algn="ctr"/>
            <a:r>
              <a:rPr sz="1600" b="0" i="0">
                <a:solidFill>
                  <a:srgbClr val="1A1A1A"/>
                </a:solidFill>
                <a:latin typeface="Calibri"/>
              </a:rPr>
              <a:t>Best match
to worst</a:t>
            </a:r>
          </a:p>
        </p:txBody>
      </p:sp>
      <p:sp>
        <p:nvSpPr>
          <p:cNvPr id="20" name="TextBox 19"/>
          <p:cNvSpPr txBox="1"/>
          <p:nvPr/>
        </p:nvSpPr>
        <p:spPr>
          <a:xfrm>
            <a:off x="914400" y="5669280"/>
            <a:ext cx="10362895" cy="731520"/>
          </a:xfrm>
          <a:prstGeom prst="rect">
            <a:avLst/>
          </a:prstGeom>
          <a:noFill/>
        </p:spPr>
        <p:txBody>
          <a:bodyPr wrap="none">
            <a:spAutoFit/>
          </a:bodyPr>
          <a:lstStyle/>
          <a:p>
            <a:pPr algn="ctr"/>
            <a:r>
              <a:rPr sz="2200" b="0" i="1">
                <a:solidFill>
                  <a:srgbClr val="0B1F3B"/>
                </a:solidFill>
                <a:latin typeface="Calibri"/>
              </a:rPr>
              <a:t>Three inputs: range, favorites, avoids. We do the rest.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How Scoring Works</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325880"/>
            <a:ext cx="10789920" cy="91440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r>
              <a:rPr sz="2400" b="1" i="0">
                <a:solidFill>
                  <a:srgbClr val="FFFFFF"/>
                </a:solidFill>
                <a:latin typeface="Consolas"/>
              </a:rPr>
              <a:t>final_score  =  cosine_similarity(song, ideal)  −  α  ×  avoid_penalty</a:t>
            </a:r>
          </a:p>
        </p:txBody>
      </p:sp>
      <p:sp>
        <p:nvSpPr>
          <p:cNvPr id="6" name="Rounded Rectangle 5"/>
          <p:cNvSpPr/>
          <p:nvPr/>
        </p:nvSpPr>
        <p:spPr>
          <a:xfrm>
            <a:off x="700887" y="2468880"/>
            <a:ext cx="3383280" cy="2560320"/>
          </a:xfrm>
          <a:prstGeom prst="roundRect">
            <a:avLst/>
          </a:prstGeom>
          <a:solidFill>
            <a:srgbClr val="F4F6F8"/>
          </a:solidFill>
          <a:ln w="25400">
            <a:solidFill>
              <a:srgbClr val="3FA7A3"/>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r>
              <a:rPr sz="1800" b="1" i="0">
                <a:solidFill>
                  <a:srgbClr val="3FA7A3"/>
                </a:solidFill>
                <a:latin typeface="Calibri"/>
              </a:rPr>
              <a:t>Cosine Similarity</a:t>
            </a:r>
          </a:p>
          <a:p>
            <a:pPr algn="ctr">
              <a:spcBef>
                <a:spcPts val="1000"/>
              </a:spcBef>
            </a:pPr>
            <a:r>
              <a:rPr sz="1500" b="0" i="0">
                <a:solidFill>
                  <a:srgbClr val="1A1A1A"/>
                </a:solidFill>
                <a:latin typeface="Calibri"/>
              </a:rPr>
              <a:t>Same pitches, same proportions?
1.0 = perfect match</a:t>
            </a:r>
          </a:p>
        </p:txBody>
      </p:sp>
      <p:sp>
        <p:nvSpPr>
          <p:cNvPr id="7" name="Rounded Rectangle 6"/>
          <p:cNvSpPr/>
          <p:nvPr/>
        </p:nvSpPr>
        <p:spPr>
          <a:xfrm>
            <a:off x="4404207" y="2468880"/>
            <a:ext cx="3383280" cy="2560320"/>
          </a:xfrm>
          <a:prstGeom prst="roundRect">
            <a:avLst/>
          </a:prstGeom>
          <a:solidFill>
            <a:srgbClr val="F4F6F8"/>
          </a:solidFill>
          <a:ln w="25400">
            <a:solidFill>
              <a:srgbClr val="FF5D7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r>
              <a:rPr sz="1800" b="1" i="0">
                <a:solidFill>
                  <a:srgbClr val="FF5D7A"/>
                </a:solidFill>
                <a:latin typeface="Calibri"/>
              </a:rPr>
              <a:t>Avoid Penalty</a:t>
            </a:r>
          </a:p>
          <a:p>
            <a:pPr algn="ctr">
              <a:spcBef>
                <a:spcPts val="1000"/>
              </a:spcBef>
            </a:pPr>
            <a:r>
              <a:rPr sz="1500" b="0" i="0">
                <a:solidFill>
                  <a:srgbClr val="1A1A1A"/>
                </a:solidFill>
                <a:latin typeface="Calibri"/>
              </a:rPr>
              <a:t>Share of singing time on
pitches the singer avoids.
Higher = worse fit</a:t>
            </a:r>
          </a:p>
        </p:txBody>
      </p:sp>
      <p:sp>
        <p:nvSpPr>
          <p:cNvPr id="8" name="Rounded Rectangle 7"/>
          <p:cNvSpPr/>
          <p:nvPr/>
        </p:nvSpPr>
        <p:spPr>
          <a:xfrm>
            <a:off x="8107527" y="2468880"/>
            <a:ext cx="3383280" cy="2560320"/>
          </a:xfrm>
          <a:prstGeom prst="roundRect">
            <a:avLst/>
          </a:prstGeom>
          <a:solidFill>
            <a:srgbClr val="F4F6F8"/>
          </a:solidFill>
          <a:ln w="25400">
            <a:solidFill>
              <a:srgbClr val="2E4A7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r>
              <a:rPr sz="1800" b="1" i="0">
                <a:solidFill>
                  <a:srgbClr val="2E4A7D"/>
                </a:solidFill>
                <a:latin typeface="Calibri"/>
              </a:rPr>
              <a:t>α  (Alpha = 0.5)</a:t>
            </a:r>
          </a:p>
          <a:p>
            <a:pPr algn="ctr">
              <a:spcBef>
                <a:spcPts val="1000"/>
              </a:spcBef>
            </a:pPr>
            <a:r>
              <a:rPr sz="1500" b="0" i="0">
                <a:solidFill>
                  <a:srgbClr val="1A1A1A"/>
                </a:solidFill>
                <a:latin typeface="Calibri"/>
              </a:rPr>
              <a:t>Balances rewarding good
pitches vs. penalizing
avoided ones.
0.5 = even split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The Dataset</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325880"/>
            <a:ext cx="10789920" cy="777240"/>
          </a:xfrm>
          <a:prstGeom prst="roundRect">
            <a:avLst/>
          </a:prstGeom>
          <a:solidFill>
            <a:srgbClr val="F4F6F8"/>
          </a:solidFill>
          <a:ln w="15240">
            <a:solidFill>
              <a:srgbClr val="3FA7A3"/>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a:lstStyle/>
          <a:p>
            <a:pPr algn="ctr"/>
            <a:r>
              <a:rPr sz="1900" b="0" i="1">
                <a:solidFill>
                  <a:srgbClr val="1A1A1A"/>
                </a:solidFill>
                <a:latin typeface="Calibri"/>
              </a:rPr>
              <a:t>OpenScore Lieder Corpus  —  CC0-licensed art-song scores</a:t>
            </a:r>
          </a:p>
        </p:txBody>
      </p:sp>
      <p:sp>
        <p:nvSpPr>
          <p:cNvPr id="6" name="Rounded Rectangle 5"/>
          <p:cNvSpPr/>
          <p:nvPr/>
        </p:nvSpPr>
        <p:spPr>
          <a:xfrm>
            <a:off x="502920" y="2377440"/>
            <a:ext cx="5120640" cy="3291840"/>
          </a:xfrm>
          <a:prstGeom prst="roundRect">
            <a:avLst/>
          </a:prstGeom>
          <a:solidFill>
            <a:srgbClr val="F4F6F8"/>
          </a:solidFill>
          <a:ln w="15240">
            <a:solidFill>
              <a:srgbClr val="2E4A7D"/>
            </a:solidFill>
          </a:ln>
        </p:spPr>
        <p:style>
          <a:lnRef idx="1">
            <a:schemeClr val="accent1"/>
          </a:lnRef>
          <a:fillRef idx="3">
            <a:schemeClr val="accent1"/>
          </a:fillRef>
          <a:effectRef idx="2">
            <a:schemeClr val="accent1"/>
          </a:effectRef>
          <a:fontRef idx="minor">
            <a:schemeClr val="lt1"/>
          </a:fontRef>
        </p:style>
        <p:txBody>
          <a:bodyPr rtlCol="0" anchor="ctr" wrap="square" lIns="274320" rIns="228600" tIns="182880"/>
          <a:lstStyle/>
          <a:p>
            <a:pPr algn="l"/>
            <a:r>
              <a:rPr sz="2000" b="1" i="0">
                <a:solidFill>
                  <a:srgbClr val="2E4A7D"/>
                </a:solidFill>
                <a:latin typeface="Calibri"/>
              </a:rPr>
              <a:t>Experiment 1  —  Compact Library</a:t>
            </a:r>
          </a:p>
          <a:p>
            <a:pPr>
              <a:spcBef>
                <a:spcPts val="1200"/>
              </a:spcBef>
            </a:pPr>
            <a:r>
              <a:rPr sz="1800" b="0" i="0">
                <a:solidFill>
                  <a:srgbClr val="1A1A1A"/>
                </a:solidFill>
                <a:latin typeface="Calibri"/>
              </a:rPr>
              <a:t>  •  101 vocal lines</a:t>
            </a:r>
          </a:p>
          <a:p>
            <a:pPr>
              <a:spcBef>
                <a:spcPts val="1200"/>
              </a:spcBef>
            </a:pPr>
            <a:r>
              <a:rPr sz="1800" b="0" i="0">
                <a:solidFill>
                  <a:srgbClr val="1A1A1A"/>
                </a:solidFill>
                <a:latin typeface="Calibri"/>
              </a:rPr>
              <a:t>  •  One per composition</a:t>
            </a:r>
          </a:p>
          <a:p>
            <a:pPr>
              <a:spcBef>
                <a:spcPts val="1200"/>
              </a:spcBef>
            </a:pPr>
            <a:r>
              <a:rPr sz="1800" b="0" i="0">
                <a:solidFill>
                  <a:srgbClr val="1A1A1A"/>
                </a:solidFill>
                <a:latin typeface="Calibri"/>
              </a:rPr>
              <a:t>  •  Initial validation baseline</a:t>
            </a:r>
          </a:p>
        </p:txBody>
      </p:sp>
      <p:sp>
        <p:nvSpPr>
          <p:cNvPr id="7" name="Rounded Rectangle 6"/>
          <p:cNvSpPr/>
          <p:nvPr/>
        </p:nvSpPr>
        <p:spPr>
          <a:xfrm>
            <a:off x="6355080" y="2377440"/>
            <a:ext cx="5120640" cy="329184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28600" tIns="182880"/>
          <a:lstStyle/>
          <a:p>
            <a:pPr algn="l"/>
            <a:r>
              <a:rPr sz="2000" b="1" i="0">
                <a:solidFill>
                  <a:srgbClr val="FF5D7A"/>
                </a:solidFill>
                <a:latin typeface="Calibri"/>
              </a:rPr>
              <a:t>Experiment 2  —  Expanded Library</a:t>
            </a:r>
          </a:p>
          <a:p>
            <a:pPr>
              <a:spcBef>
                <a:spcPts val="1200"/>
              </a:spcBef>
            </a:pPr>
            <a:r>
              <a:rPr sz="1800" b="0" i="0">
                <a:solidFill>
                  <a:srgbClr val="FFFFFF"/>
                </a:solidFill>
                <a:latin typeface="Calibri"/>
              </a:rPr>
              <a:t>  •  1,655 lines from 1,419 compositions</a:t>
            </a:r>
          </a:p>
          <a:p>
            <a:pPr>
              <a:spcBef>
                <a:spcPts val="1200"/>
              </a:spcBef>
            </a:pPr>
            <a:r>
              <a:rPr sz="1800" b="0" i="0">
                <a:solidFill>
                  <a:srgbClr val="FFFFFF"/>
                </a:solidFill>
                <a:latin typeface="Calibri"/>
              </a:rPr>
              <a:t>  •  ~16× larger</a:t>
            </a:r>
          </a:p>
          <a:p>
            <a:pPr>
              <a:spcBef>
                <a:spcPts val="1200"/>
              </a:spcBef>
            </a:pPr>
            <a:r>
              <a:rPr sz="1800" b="0" i="0">
                <a:solidFill>
                  <a:srgbClr val="FFFFFF"/>
                </a:solidFill>
                <a:latin typeface="Calibri"/>
              </a:rPr>
              <a:t>  •  342 multi-part, 1,313 single-voice</a:t>
            </a:r>
          </a:p>
        </p:txBody>
      </p:sp>
      <p:sp>
        <p:nvSpPr>
          <p:cNvPr id="8" name="TextBox 7"/>
          <p:cNvSpPr txBox="1"/>
          <p:nvPr/>
        </p:nvSpPr>
        <p:spPr>
          <a:xfrm>
            <a:off x="502920" y="5943600"/>
            <a:ext cx="11155680" cy="548640"/>
          </a:xfrm>
          <a:prstGeom prst="rect">
            <a:avLst/>
          </a:prstGeom>
          <a:noFill/>
        </p:spPr>
        <p:txBody>
          <a:bodyPr wrap="none">
            <a:spAutoFit/>
          </a:bodyPr>
          <a:lstStyle/>
          <a:p>
            <a:pPr algn="ctr"/>
            <a:r>
              <a:rPr sz="1700" b="0" i="1">
                <a:solidFill>
                  <a:srgbClr val="2E4A7D"/>
                </a:solidFill>
                <a:latin typeface="Calibri"/>
              </a:rPr>
              <a:t>Multi-part works (e.g. duets): each vocal line is its own item.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How We Tested It: Synthetic Self-Retrieval</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71600"/>
            <a:ext cx="10789920" cy="2743200"/>
          </a:xfrm>
          <a:prstGeom prst="rect">
            <a:avLst/>
          </a:prstGeom>
          <a:noFill/>
        </p:spPr>
        <p:txBody>
          <a:bodyPr wrap="square">
            <a:spAutoFit/>
          </a:bodyPr>
          <a:lstStyle/>
          <a:p>
            <a:pPr algn="l">
              <a:spcAft>
                <a:spcPts val="800"/>
              </a:spcAft>
            </a:pPr>
            <a:r>
              <a:rPr sz="2200" b="0" i="0">
                <a:solidFill>
                  <a:srgbClr val="1A1A1A"/>
                </a:solidFill>
                <a:latin typeface="Calibri"/>
              </a:rPr>
              <a:t>1.  Pick a vocal line from the library.</a:t>
            </a:r>
          </a:p>
          <a:p>
            <a:pPr algn="l">
              <a:spcAft>
                <a:spcPts val="800"/>
              </a:spcAft>
            </a:pPr>
            <a:r>
              <a:rPr sz="2200" b="0" i="0">
                <a:solidFill>
                  <a:srgbClr val="1A1A1A"/>
                </a:solidFill>
                <a:latin typeface="Calibri"/>
              </a:rPr>
              <a:t>2.  Build a singer profile from that line’s fingerprint
     (range, top-4 favorites, bottom-2 avoids).</a:t>
            </a:r>
          </a:p>
          <a:p>
            <a:pPr algn="l">
              <a:spcAft>
                <a:spcPts val="800"/>
              </a:spcAft>
            </a:pPr>
            <a:r>
              <a:rPr sz="2200" b="0" i="0">
                <a:solidFill>
                  <a:srgbClr val="1A1A1A"/>
                </a:solidFill>
                <a:latin typeface="Calibri"/>
              </a:rPr>
              <a:t>3.  Can the system find that line among all candidates?</a:t>
            </a:r>
          </a:p>
        </p:txBody>
      </p:sp>
      <p:sp>
        <p:nvSpPr>
          <p:cNvPr id="6" name="Rounded Rectangle 5"/>
          <p:cNvSpPr/>
          <p:nvPr/>
        </p:nvSpPr>
        <p:spPr>
          <a:xfrm>
            <a:off x="685800" y="4023360"/>
            <a:ext cx="10789920" cy="1828800"/>
          </a:xfrm>
          <a:prstGeom prst="roundRect">
            <a:avLst/>
          </a:prstGeom>
          <a:solidFill>
            <a:srgbClr val="F4F6F8"/>
          </a:solidFill>
          <a:ln w="19050">
            <a:solidFill>
              <a:srgbClr val="FF5D7A"/>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r>
              <a:rPr sz="2000" b="1" i="0">
                <a:solidFill>
                  <a:srgbClr val="1A1A1A"/>
                </a:solidFill>
                <a:latin typeface="Calibri"/>
              </a:rPr>
              <a:t>Three models compared:</a:t>
            </a:r>
          </a:p>
          <a:p>
            <a:r>
              <a:rPr sz="2000" b="0" i="0">
                <a:solidFill>
                  <a:srgbClr val="1A1A1A"/>
                </a:solidFill>
                <a:latin typeface="Calibri"/>
              </a:rPr>
              <a:t>Full model:  cosine + avoid penalty (α = 0.5)</a:t>
            </a:r>
          </a:p>
          <a:p>
            <a:r>
              <a:rPr sz="2000" b="0" i="0">
                <a:solidFill>
                  <a:srgbClr val="1A1A1A"/>
                </a:solidFill>
                <a:latin typeface="Calibri"/>
              </a:rPr>
              <a:t>Cosine-only:  no avoid penalty (α = 0)</a:t>
            </a:r>
          </a:p>
          <a:p>
            <a:r>
              <a:rPr sz="2000" b="0" i="0">
                <a:solidFill>
                  <a:srgbClr val="1A1A1A"/>
                </a:solidFill>
                <a:latin typeface="Calibri"/>
              </a:rPr>
              <a:t>Null:  range filter → random order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Results: Self-Retrieval Accuracy (RQ1)</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q1_oracle_hr1_mrr.png"/>
          <p:cNvPicPr>
            <a:picLocks noChangeAspect="1"/>
          </p:cNvPicPr>
          <p:nvPr/>
        </p:nvPicPr>
        <p:blipFill>
          <a:blip r:embed="rId2"/>
          <a:stretch>
            <a:fillRect/>
          </a:stretch>
        </p:blipFill>
        <p:spPr>
          <a:xfrm>
            <a:off x="2003533" y="1325880"/>
            <a:ext cx="8184629" cy="3840480"/>
          </a:xfrm>
          <a:prstGeom prst="rect">
            <a:avLst/>
          </a:prstGeom>
        </p:spPr>
      </p:pic>
      <p:sp>
        <p:nvSpPr>
          <p:cNvPr id="6" name="Rounded Rectangle 5"/>
          <p:cNvSpPr/>
          <p:nvPr/>
        </p:nvSpPr>
        <p:spPr>
          <a:xfrm>
            <a:off x="685800" y="5303520"/>
            <a:ext cx="10789920" cy="1188720"/>
          </a:xfrm>
          <a:prstGeom prst="round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spcAft>
                <a:spcPts val="400"/>
              </a:spcAft>
            </a:pPr>
            <a:r>
              <a:rPr sz="1800" b="0" i="0">
                <a:solidFill>
                  <a:srgbClr val="FFFFFF"/>
                </a:solidFill>
                <a:latin typeface="Calibri"/>
              </a:rPr>
              <a:t>Compact HR@1 = 76%  vs. 6% random   |   Expanded HR@1 = 55%  vs. 2% random</a:t>
            </a:r>
          </a:p>
          <a:p>
            <a:pPr algn="ctr">
              <a:spcAft>
                <a:spcPts val="400"/>
              </a:spcAft>
            </a:pPr>
            <a:r>
              <a:rPr sz="1800" b="1" i="0">
                <a:solidFill>
                  <a:srgbClr val="FFFFFF"/>
                </a:solidFill>
                <a:latin typeface="Calibri"/>
              </a:rPr>
              <a:t>Expanded HR@5 = 86%  —  target in top 5 nearly 9/10 times.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Results: Ranking Stability (RQ2)</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Q2_baselines.png"/>
          <p:cNvPicPr>
            <a:picLocks noChangeAspect="1"/>
          </p:cNvPicPr>
          <p:nvPr/>
        </p:nvPicPr>
        <p:blipFill>
          <a:blip r:embed="rId2"/>
          <a:stretch>
            <a:fillRect/>
          </a:stretch>
        </p:blipFill>
        <p:spPr>
          <a:xfrm>
            <a:off x="3646455" y="1325880"/>
            <a:ext cx="4898785" cy="3474720"/>
          </a:xfrm>
          <a:prstGeom prst="rect">
            <a:avLst/>
          </a:prstGeom>
        </p:spPr>
      </p:pic>
      <p:sp>
        <p:nvSpPr>
          <p:cNvPr id="6" name="TextBox 5"/>
          <p:cNvSpPr txBox="1"/>
          <p:nvPr/>
        </p:nvSpPr>
        <p:spPr>
          <a:xfrm>
            <a:off x="685800" y="5029200"/>
            <a:ext cx="10789920" cy="1645920"/>
          </a:xfrm>
          <a:prstGeom prst="rect">
            <a:avLst/>
          </a:prstGeom>
          <a:noFill/>
        </p:spPr>
        <p:txBody>
          <a:bodyPr wrap="square">
            <a:spAutoFit/>
          </a:bodyPr>
          <a:lstStyle/>
          <a:p>
            <a:pPr algn="l">
              <a:spcAft>
                <a:spcPts val="800"/>
              </a:spcAft>
            </a:pPr>
            <a:r>
              <a:rPr sz="2000" b="0" i="0">
                <a:solidFill>
                  <a:srgbClr val="1A1A1A"/>
                </a:solidFill>
                <a:latin typeface="Calibri"/>
              </a:rPr>
              <a:t>  •  Mean Kendall’s τ = 0.84–0.85  (threshold = 0.7).</a:t>
            </a:r>
          </a:p>
          <a:p>
            <a:pPr algn="l">
              <a:spcAft>
                <a:spcPts val="800"/>
              </a:spcAft>
            </a:pPr>
            <a:r>
              <a:rPr sz="2000" b="0" i="0">
                <a:solidFill>
                  <a:srgbClr val="1A1A1A"/>
                </a:solidFill>
                <a:latin typeface="Calibri"/>
              </a:rPr>
              <a:t>  •  Small preference changes → small ranking changes.</a:t>
            </a:r>
          </a:p>
          <a:p>
            <a:pPr algn="l">
              <a:spcAft>
                <a:spcPts val="800"/>
              </a:spcAft>
            </a:pPr>
            <a:r>
              <a:rPr sz="2000" b="0" i="0">
                <a:solidFill>
                  <a:srgbClr val="1A1A1A"/>
                </a:solidFill>
                <a:latin typeface="Calibri"/>
              </a:rPr>
              <a:t>  •  Stable and trustworthy.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Sensitivity to the Avoid-Penalty Weight (α)</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lpha_sensitivity_hr1_mrr_tau.png"/>
          <p:cNvPicPr>
            <a:picLocks noChangeAspect="1"/>
          </p:cNvPicPr>
          <p:nvPr/>
        </p:nvPicPr>
        <p:blipFill>
          <a:blip r:embed="rId2"/>
          <a:stretch>
            <a:fillRect/>
          </a:stretch>
        </p:blipFill>
        <p:spPr>
          <a:xfrm>
            <a:off x="838047" y="1325880"/>
            <a:ext cx="10515600" cy="3449116"/>
          </a:xfrm>
          <a:prstGeom prst="rect">
            <a:avLst/>
          </a:prstGeom>
        </p:spPr>
      </p:pic>
      <p:sp>
        <p:nvSpPr>
          <p:cNvPr id="6" name="TextBox 5"/>
          <p:cNvSpPr txBox="1"/>
          <p:nvPr/>
        </p:nvSpPr>
        <p:spPr>
          <a:xfrm>
            <a:off x="685800" y="5029200"/>
            <a:ext cx="10789920" cy="1645920"/>
          </a:xfrm>
          <a:prstGeom prst="rect">
            <a:avLst/>
          </a:prstGeom>
          <a:noFill/>
        </p:spPr>
        <p:txBody>
          <a:bodyPr wrap="square">
            <a:spAutoFit/>
          </a:bodyPr>
          <a:lstStyle/>
          <a:p>
            <a:pPr algn="l">
              <a:spcAft>
                <a:spcPts val="800"/>
              </a:spcAft>
            </a:pPr>
            <a:r>
              <a:rPr sz="2000" b="0" i="0">
                <a:solidFill>
                  <a:srgbClr val="1A1A1A"/>
                </a:solidFill>
                <a:latin typeface="Calibri"/>
              </a:rPr>
              <a:t>  •  Performance flat across α = 0–1.</a:t>
            </a:r>
          </a:p>
          <a:p>
            <a:pPr algn="l">
              <a:spcAft>
                <a:spcPts val="800"/>
              </a:spcAft>
            </a:pPr>
            <a:r>
              <a:rPr sz="2000" b="0" i="0">
                <a:solidFill>
                  <a:srgbClr val="1A1A1A"/>
                </a:solidFill>
                <a:latin typeface="Calibri"/>
              </a:rPr>
              <a:t>  •  Stability holds: τ ≥ 0.82 even at α = 1.0.</a:t>
            </a:r>
          </a:p>
          <a:p>
            <a:pPr algn="l">
              <a:spcAft>
                <a:spcPts val="800"/>
              </a:spcAft>
            </a:pPr>
            <a:r>
              <a:rPr sz="2000" b="0" i="0">
                <a:solidFill>
                  <a:srgbClr val="1A1A1A"/>
                </a:solidFill>
                <a:latin typeface="Calibri"/>
              </a:rPr>
              <a:t>  •  α = 0.5 balances avoid control and stability.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Implementation Verification (RQ3)</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71600"/>
            <a:ext cx="10789920" cy="5029200"/>
          </a:xfrm>
          <a:prstGeom prst="rect">
            <a:avLst/>
          </a:prstGeom>
          <a:noFill/>
        </p:spPr>
        <p:txBody>
          <a:bodyPr wrap="square">
            <a:spAutoFit/>
          </a:bodyPr>
          <a:lstStyle/>
          <a:p>
            <a:pPr algn="l">
              <a:spcAft>
                <a:spcPts val="800"/>
              </a:spcAft>
            </a:pPr>
            <a:r>
              <a:rPr sz="2200" b="0" i="0">
                <a:solidFill>
                  <a:srgbClr val="1A1A1A"/>
                </a:solidFill>
                <a:latin typeface="Calibri"/>
              </a:rPr>
              <a:t>  •  Identity residual = 0  —  zero numerical error.</a:t>
            </a:r>
          </a:p>
          <a:p>
            <a:pPr algn="l">
              <a:spcAft>
                <a:spcPts val="800"/>
              </a:spcAft>
            </a:pPr>
            <a:r>
              <a:rPr sz="2200" b="0" i="0">
                <a:solidFill>
                  <a:srgbClr val="1A1A1A"/>
                </a:solidFill>
                <a:latin typeface="Calibri"/>
              </a:rPr>
              <a:t>  •  OLS recovers exact coefficients:
cos = 1.0,  avoid = −0.5,  R² = 1.0.</a:t>
            </a:r>
          </a:p>
          <a:p>
            <a:pPr algn="l">
              <a:spcAft>
                <a:spcPts val="800"/>
              </a:spcAft>
            </a:pPr>
            <a:r>
              <a:rPr sz="2200" b="0" i="0">
                <a:solidFill>
                  <a:srgbClr val="1A1A1A"/>
                </a:solidFill>
                <a:latin typeface="Calibri"/>
              </a:rPr>
              <a:t>  •  Spearman ρ in expected directions:
(final, cos) +0.99  |  (final, avoid) −0.32  |  (cos, fav) +0.92</a:t>
            </a:r>
          </a:p>
          <a:p>
            <a:pPr algn="l">
              <a:spcAft>
                <a:spcPts val="800"/>
              </a:spcAft>
            </a:pPr>
            <a:r>
              <a:rPr sz="2200" b="0" i="0">
                <a:solidFill>
                  <a:srgbClr val="1A1A1A"/>
                </a:solidFill>
                <a:latin typeface="Calibri"/>
              </a:rPr>
              <a:t>  •  The math checks out.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What Does This Mean?</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71600"/>
            <a:ext cx="10789920" cy="2743200"/>
          </a:xfrm>
          <a:prstGeom prst="rect">
            <a:avLst/>
          </a:prstGeom>
          <a:noFill/>
        </p:spPr>
        <p:txBody>
          <a:bodyPr wrap="square">
            <a:spAutoFit/>
          </a:bodyPr>
          <a:lstStyle/>
          <a:p>
            <a:pPr algn="l">
              <a:spcAft>
                <a:spcPts val="800"/>
              </a:spcAft>
            </a:pPr>
            <a:r>
              <a:rPr sz="2200" b="0" i="0">
                <a:solidFill>
                  <a:srgbClr val="1A1A1A"/>
                </a:solidFill>
                <a:latin typeface="Calibri"/>
              </a:rPr>
              <a:t>  •  Data science can make vocal health
decisions safer and more objective.</a:t>
            </a:r>
          </a:p>
          <a:p>
            <a:pPr algn="l">
              <a:spcAft>
                <a:spcPts val="800"/>
              </a:spcAft>
            </a:pPr>
            <a:r>
              <a:rPr sz="2200" b="0" i="0">
                <a:solidFill>
                  <a:srgbClr val="1A1A1A"/>
                </a:solidFill>
                <a:latin typeface="Calibri"/>
              </a:rPr>
              <a:t>  •  Pitch-level queries surpass Fach —
surface pieces a teacher may never find.</a:t>
            </a:r>
          </a:p>
          <a:p>
            <a:pPr algn="l">
              <a:spcAft>
                <a:spcPts val="800"/>
              </a:spcAft>
            </a:pPr>
            <a:r>
              <a:rPr sz="2200" b="0" i="0">
                <a:solidFill>
                  <a:srgbClr val="1A1A1A"/>
                </a:solidFill>
                <a:latin typeface="Calibri"/>
              </a:rPr>
              <a:t>  •  Familiar techniques, novel domain:
cosine similarity, cold-start, offline eval.</a:t>
            </a:r>
          </a:p>
        </p:txBody>
      </p:sp>
      <p:sp>
        <p:nvSpPr>
          <p:cNvPr id="6" name="TextBox 5"/>
          <p:cNvSpPr txBox="1"/>
          <p:nvPr/>
        </p:nvSpPr>
        <p:spPr>
          <a:xfrm>
            <a:off x="1097280" y="4389120"/>
            <a:ext cx="9966960" cy="3200400"/>
          </a:xfrm>
          <a:prstGeom prst="rect">
            <a:avLst/>
          </a:prstGeom>
          <a:noFill/>
        </p:spPr>
        <p:txBody>
          <a:bodyPr wrap="square">
            <a:spAutoFit/>
          </a:bodyPr>
          <a:lstStyle/>
          <a:p>
            <a:pPr algn="ctr"/>
            <a:r>
              <a:rPr sz="3400" b="0" i="1">
                <a:solidFill>
                  <a:srgbClr val="0B1F3B"/>
                </a:solidFill>
                <a:latin typeface="Calibri"/>
              </a:rPr>
              <a:t>“How might content-based recommendations
apply to creative domains like music?”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
            <a:ext cx="10515600" cy="640080"/>
          </a:xfrm>
          <a:prstGeom prst="rect">
            <a:avLst/>
          </a:prstGeom>
          <a:noFill/>
        </p:spPr>
        <p:txBody>
          <a:bodyPr wrap="none">
            <a:spAutoFit/>
          </a:bodyPr>
          <a:lstStyle/>
          <a:p>
            <a:pPr algn="l"/>
            <a:r>
              <a:rPr sz="3200" b="1" i="0">
                <a:solidFill>
                  <a:srgbClr val="FFFFFF"/>
                </a:solidFill>
                <a:latin typeface="Calibri"/>
              </a:rPr>
              <a:t>Limitations &amp; Future Work</a:t>
            </a:r>
          </a:p>
        </p:txBody>
      </p:sp>
      <p:sp>
        <p:nvSpPr>
          <p:cNvPr id="4" name="Rectangle 3"/>
          <p:cNvSpPr/>
          <p:nvPr/>
        </p:nvSpPr>
        <p:spPr>
          <a:xfrm>
            <a:off x="685800" y="1078992"/>
            <a:ext cx="2286000"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71600"/>
            <a:ext cx="10789920" cy="5029200"/>
          </a:xfrm>
          <a:prstGeom prst="rect">
            <a:avLst/>
          </a:prstGeom>
          <a:noFill/>
        </p:spPr>
        <p:txBody>
          <a:bodyPr wrap="square">
            <a:spAutoFit/>
          </a:bodyPr>
          <a:lstStyle/>
          <a:p>
            <a:pPr algn="l">
              <a:spcAft>
                <a:spcPts val="800"/>
              </a:spcAft>
            </a:pPr>
            <a:r>
              <a:rPr sz="2200" b="0" i="0">
                <a:solidFill>
                  <a:srgbClr val="1A1A1A"/>
                </a:solidFill>
                <a:latin typeface="Calibri"/>
              </a:rPr>
              <a:t>  •  Synthetic profiles only — no human evaluation yet.</a:t>
            </a:r>
          </a:p>
          <a:p>
            <a:pPr algn="l">
              <a:spcAft>
                <a:spcPts val="800"/>
              </a:spcAft>
            </a:pPr>
            <a:r>
              <a:rPr sz="2200" b="0" i="0">
                <a:solidFill>
                  <a:srgbClr val="1A1A1A"/>
                </a:solidFill>
                <a:latin typeface="Calibri"/>
              </a:rPr>
              <a:t>  •  One corpus (German &amp; French art song);
opera, theatre, pop untested.</a:t>
            </a:r>
          </a:p>
          <a:p>
            <a:pPr algn="l">
              <a:spcAft>
                <a:spcPts val="800"/>
              </a:spcAft>
            </a:pPr>
            <a:r>
              <a:rPr sz="2200" b="0" i="0">
                <a:solidFill>
                  <a:srgbClr val="1A1A1A"/>
                </a:solidFill>
                <a:latin typeface="Calibri"/>
              </a:rPr>
              <a:t>  •  Pitch + duration only — dynamics,
tempo, text omitted.</a:t>
            </a:r>
          </a:p>
          <a:p>
            <a:pPr algn="l">
              <a:spcAft>
                <a:spcPts val="800"/>
              </a:spcAft>
            </a:pPr>
            <a:r>
              <a:rPr sz="2200" b="0" i="0">
                <a:solidFill>
                  <a:srgbClr val="1A1A1A"/>
                </a:solidFill>
                <a:latin typeface="Calibri"/>
              </a:rPr>
              <a:t>  •  Next: real singers, diverse repertoire,
richer features, interactive tool.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F3B"/>
        </a:solidFill>
        <a:effectLst/>
      </p:bgPr>
    </p:bg>
    <p:spTree>
      <p:nvGrpSpPr>
        <p:cNvPr id="1" name=""/>
        <p:cNvGrpSpPr/>
        <p:nvPr/>
      </p:nvGrpSpPr>
      <p:grpSpPr/>
      <p:sp>
        <p:nvSpPr>
          <p:cNvPr id="2" name="Rectangle 1"/>
          <p:cNvSpPr/>
          <p:nvPr/>
        </p:nvSpPr>
        <p:spPr>
          <a:xfrm>
            <a:off x="1828800" y="1371600"/>
            <a:ext cx="8534095"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800" y="5303520"/>
            <a:ext cx="8534095" cy="36576"/>
          </a:xfrm>
          <a:prstGeom prst="rect">
            <a:avLst/>
          </a:prstGeom>
          <a:solidFill>
            <a:srgbClr val="FF5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37360"/>
            <a:ext cx="10362895" cy="1371600"/>
          </a:xfrm>
          <a:prstGeom prst="rect">
            <a:avLst/>
          </a:prstGeom>
          <a:noFill/>
        </p:spPr>
        <p:txBody>
          <a:bodyPr wrap="square">
            <a:spAutoFit/>
          </a:bodyPr>
          <a:lstStyle/>
          <a:p>
            <a:pPr algn="ctr"/>
            <a:r>
              <a:rPr sz="3000" b="1" i="0">
                <a:solidFill>
                  <a:srgbClr val="FFFFFF"/>
                </a:solidFill>
                <a:latin typeface="Calibri"/>
              </a:rPr>
              <a:t>Duration-weighted tessituragrams can rank vocal repertoire
by fit — and this is just the beginning.</a:t>
            </a:r>
          </a:p>
        </p:txBody>
      </p:sp>
      <p:sp>
        <p:nvSpPr>
          <p:cNvPr id="5" name="TextBox 4"/>
          <p:cNvSpPr txBox="1"/>
          <p:nvPr/>
        </p:nvSpPr>
        <p:spPr>
          <a:xfrm>
            <a:off x="1371600" y="3383280"/>
            <a:ext cx="9448495" cy="914400"/>
          </a:xfrm>
          <a:prstGeom prst="rect">
            <a:avLst/>
          </a:prstGeom>
          <a:noFill/>
        </p:spPr>
        <p:txBody>
          <a:bodyPr wrap="none">
            <a:spAutoFit/>
          </a:bodyPr>
          <a:lstStyle/>
          <a:p>
            <a:pPr algn="ctr"/>
            <a:r>
              <a:rPr sz="2400" b="0" i="1">
                <a:solidFill>
                  <a:srgbClr val="F4F6F8"/>
                </a:solidFill>
                <a:latin typeface="Calibri"/>
              </a:rPr>
              <a:t>“Next time a singer asks ‘What should I sing?’
— data might have an answer.”</a:t>
            </a:r>
          </a:p>
        </p:txBody>
      </p:sp>
      <p:sp>
        <p:nvSpPr>
          <p:cNvPr id="6" name="TextBox 5"/>
          <p:cNvSpPr txBox="1"/>
          <p:nvPr/>
        </p:nvSpPr>
        <p:spPr>
          <a:xfrm>
            <a:off x="914400" y="4572000"/>
            <a:ext cx="10362895" cy="548640"/>
          </a:xfrm>
          <a:prstGeom prst="rect">
            <a:avLst/>
          </a:prstGeom>
          <a:noFill/>
        </p:spPr>
        <p:txBody>
          <a:bodyPr wrap="none">
            <a:spAutoFit/>
          </a:bodyPr>
          <a:lstStyle/>
          <a:p>
            <a:pPr algn="ctr"/>
            <a:r>
              <a:rPr sz="3600" b="1" i="0">
                <a:solidFill>
                  <a:srgbClr val="FF5D7A"/>
                </a:solidFill>
                <a:latin typeface="Calibri"/>
              </a:rPr>
              <a:t>Thank You</a:t>
            </a:r>
          </a:p>
        </p:txBody>
      </p:sp>
      <p:sp>
        <p:nvSpPr>
          <p:cNvPr id="7" name="TextBox 6"/>
          <p:cNvSpPr txBox="1"/>
          <p:nvPr/>
        </p:nvSpPr>
        <p:spPr>
          <a:xfrm>
            <a:off x="914400" y="5577840"/>
            <a:ext cx="10362895" cy="914400"/>
          </a:xfrm>
          <a:prstGeom prst="rect">
            <a:avLst/>
          </a:prstGeom>
          <a:noFill/>
        </p:spPr>
        <p:txBody>
          <a:bodyPr wrap="square">
            <a:spAutoFit/>
          </a:bodyPr>
          <a:lstStyle/>
          <a:p>
            <a:pPr algn="ctr"/>
            <a:r>
              <a:rPr sz="1800" b="0" i="0">
                <a:solidFill>
                  <a:srgbClr val="F4F6F8"/>
                </a:solidFill>
                <a:latin typeface="Calibri"/>
              </a:rPr>
              <a:t>Madeline Johnson, Flint Million, Rajeev Bukralia</a:t>
            </a:r>
          </a:p>
          <a:p>
            <a:pPr algn="ctr"/>
            <a:r>
              <a:rPr sz="1800" b="0" i="0">
                <a:solidFill>
                  <a:srgbClr val="F4F6F8"/>
                </a:solidFill>
                <a:latin typeface="Calibri"/>
              </a:rPr>
              <a:t>Minnesota State University, Mankato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